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Tight"/>
      <p:regular r:id="rId201314"/>
    </p:embeddedFont>
    <p:embeddedFont>
      <p:font typeface="Inter Tight SemiBold"/>
      <p:regular r:id="rId201315"/>
    </p:embeddedFont>
    <p:embeddedFont>
      <p:font typeface="Inter Tight Bold"/>
      <p:regular r:id="rId201316"/>
    </p:embeddedFont>
    <p:embeddedFont>
      <p:font typeface="Inter Tight Black"/>
      <p:regular r:id="rId201317"/>
    </p:embeddedFont>
    <p:embeddedFont>
      <p:font typeface="Mona Sans Bold"/>
      <p:regular r:id="rId201318"/>
    </p:embeddedFont>
    <p:embeddedFont>
      <p:font typeface="Mona Sans Black"/>
      <p:regular r:id="rId201319"/>
    </p:embeddedFont>
    <p:embeddedFont>
      <p:font typeface="Mona Sans"/>
      <p:regular r:id="rId201320"/>
    </p:embeddedFont>
    <p:embeddedFont>
      <p:font typeface="Mona Sans Semi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image" Target="../media/image-2-2.png"/><Relationship Id="rId11" Type="http://schemas.openxmlformats.org/officeDocument/2006/relationships/image" Target="../media/image-2-3.svg"/><Relationship Id="rId12" Type="http://schemas.openxmlformats.org/officeDocument/2006/relationships/image" Target="../media/image-2-2.png"/><Relationship Id="rId13" Type="http://schemas.openxmlformats.org/officeDocument/2006/relationships/image" Target="../media/image-2-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image" Target="../media/image-2-18.png"/><Relationship Id="rId19" Type="http://schemas.openxmlformats.org/officeDocument/2006/relationships/image" Target="../media/image-2-19.svg"/><Relationship Id="rId20" Type="http://schemas.openxmlformats.org/officeDocument/2006/relationships/image" Target="../media/image-2-14.png"/><Relationship Id="rId21" Type="http://schemas.openxmlformats.org/officeDocument/2006/relationships/image" Target="../media/image-2-15.svg"/><Relationship Id="rId22" Type="http://schemas.openxmlformats.org/officeDocument/2006/relationships/image" Target="../media/image-2-16.png"/><Relationship Id="rId23" Type="http://schemas.openxmlformats.org/officeDocument/2006/relationships/image" Target="../media/image-2-17.svg"/><Relationship Id="rId24" Type="http://schemas.openxmlformats.org/officeDocument/2006/relationships/image" Target="../media/image-2-18.png"/><Relationship Id="rId25" Type="http://schemas.openxmlformats.org/officeDocument/2006/relationships/image" Target="../media/image-2-19.svg"/><Relationship Id="rId26" Type="http://schemas.openxmlformats.org/officeDocument/2006/relationships/image" Target="../media/image-2-26.png"/><Relationship Id="rId27" Type="http://schemas.openxmlformats.org/officeDocument/2006/relationships/slideLayout" Target="../slideLayouts/slideLayout2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2.png"/><Relationship Id="rId15" Type="http://schemas.openxmlformats.org/officeDocument/2006/relationships/image" Target="../media/image-3-3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2.png"/><Relationship Id="rId19" Type="http://schemas.openxmlformats.org/officeDocument/2006/relationships/image" Target="../media/image-3-3.svg"/><Relationship Id="rId20" Type="http://schemas.openxmlformats.org/officeDocument/2006/relationships/image" Target="../media/image-3-20.png"/><Relationship Id="rId21" Type="http://schemas.openxmlformats.org/officeDocument/2006/relationships/image" Target="../media/image-3-21.svg"/><Relationship Id="rId22" Type="http://schemas.openxmlformats.org/officeDocument/2006/relationships/image" Target="../media/image-3-2.png"/><Relationship Id="rId23" Type="http://schemas.openxmlformats.org/officeDocument/2006/relationships/image" Target="../media/image-3-3.svg"/><Relationship Id="rId24" Type="http://schemas.openxmlformats.org/officeDocument/2006/relationships/image" Target="../media/image-3-24.png"/><Relationship Id="rId25" Type="http://schemas.openxmlformats.org/officeDocument/2006/relationships/image" Target="../media/image-3-25.svg"/><Relationship Id="rId26" Type="http://schemas.openxmlformats.org/officeDocument/2006/relationships/image" Target="../media/image-3-26.png"/><Relationship Id="rId27" Type="http://schemas.openxmlformats.org/officeDocument/2006/relationships/slideLayout" Target="../slideLayouts/slideLayout2.xml"/><Relationship Id="rId2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image" Target="../media/image-5-2.png"/><Relationship Id="rId19" Type="http://schemas.openxmlformats.org/officeDocument/2006/relationships/image" Target="../media/image-5-3.svg"/><Relationship Id="rId20" Type="http://schemas.openxmlformats.org/officeDocument/2006/relationships/image" Target="../media/image-5-20.png"/><Relationship Id="rId21" Type="http://schemas.openxmlformats.org/officeDocument/2006/relationships/image" Target="../media/image-5-21.svg"/><Relationship Id="rId22" Type="http://schemas.openxmlformats.org/officeDocument/2006/relationships/image" Target="../media/image-5-2.png"/><Relationship Id="rId23" Type="http://schemas.openxmlformats.org/officeDocument/2006/relationships/image" Target="../media/image-5-3.svg"/><Relationship Id="rId24" Type="http://schemas.openxmlformats.org/officeDocument/2006/relationships/image" Target="../media/image-5-24.png"/><Relationship Id="rId25" Type="http://schemas.openxmlformats.org/officeDocument/2006/relationships/image" Target="../media/image-5-25.svg"/><Relationship Id="rId26" Type="http://schemas.openxmlformats.org/officeDocument/2006/relationships/image" Target="../media/image-5-26.png"/><Relationship Id="rId27" Type="http://schemas.openxmlformats.org/officeDocument/2006/relationships/image" Target="../media/image-5-27.svg"/><Relationship Id="rId28" Type="http://schemas.openxmlformats.org/officeDocument/2006/relationships/slideLayout" Target="../slideLayouts/slideLayout2.xml"/><Relationship Id="rId29" Type="http://schemas.openxmlformats.org/officeDocument/2006/relationships/notesSlide" Target="../notesSlides/notesSlide5.xml"/><Relationship Id="rId30" Type="http://schemas.openxmlformats.org/officeDocument/2006/relationships/image" Target="../media/image-5-mockup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0857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75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408973" y="1600498"/>
            <a:ext cx="1373649" cy="128290"/>
          </a:xfrm>
          <a:prstGeom prst="roundRect">
            <a:avLst>
              <a:gd name="adj" fmla="val 7901"/>
            </a:avLst>
          </a:prstGeom>
          <a:solidFill>
            <a:srgbClr val="024A47"/>
          </a:solidFill>
          <a:ln/>
        </p:spPr>
      </p:sp>
      <p:sp>
        <p:nvSpPr>
          <p:cNvPr id="4" name="Text 1"/>
          <p:cNvSpPr/>
          <p:nvPr/>
        </p:nvSpPr>
        <p:spPr>
          <a:xfrm>
            <a:off x="5459574" y="1625798"/>
            <a:ext cx="1882033" cy="7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SD-04 — SUSTAINABLE DEVELOPMENT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661475" y="1743869"/>
            <a:ext cx="10868745" cy="52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Circular Economy Marketplace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2328366"/>
            <a:ext cx="10868745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AI-Powered Platform for Reusing Industrial Materials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77" y="2516882"/>
            <a:ext cx="6818142" cy="33327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2996" y="3663572"/>
            <a:ext cx="1589487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Industrial Waste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615094" y="2900600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Classification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399131" y="4468932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Digital Marketplace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980078" y="5246034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Reuse → Future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61475" y="5892105"/>
            <a:ext cx="3597780" cy="421184"/>
          </a:xfrm>
          <a:prstGeom prst="roundRect">
            <a:avLst>
              <a:gd name="adj" fmla="val 3008"/>
            </a:avLst>
          </a:prstGeom>
          <a:solidFill>
            <a:srgbClr val="036661">
              <a:alpha val="5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45908" y="5976541"/>
            <a:ext cx="3428914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Project Category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45908" y="6131123"/>
            <a:ext cx="342891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Sustainable Development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4296957" y="5892105"/>
            <a:ext cx="3597780" cy="421184"/>
          </a:xfrm>
          <a:prstGeom prst="roundRect">
            <a:avLst>
              <a:gd name="adj" fmla="val 3008"/>
            </a:avLst>
          </a:prstGeom>
          <a:solidFill>
            <a:srgbClr val="333333">
              <a:alpha val="5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381390" y="5976541"/>
            <a:ext cx="3428914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Project Theme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381390" y="6131123"/>
            <a:ext cx="342891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Circular Economy &amp; Industrial Waste Reuse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7932440" y="5892105"/>
            <a:ext cx="3597780" cy="421184"/>
          </a:xfrm>
          <a:prstGeom prst="roundRect">
            <a:avLst>
              <a:gd name="adj" fmla="val 3008"/>
            </a:avLst>
          </a:prstGeom>
          <a:solidFill>
            <a:srgbClr val="114945">
              <a:alpha val="5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8016873" y="5976541"/>
            <a:ext cx="3428914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016873" y="6131123"/>
            <a:ext cx="342891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Anshuman Verma · Aman Kumar · Anish Prakash · Aditya Verma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536575"/>
            <a:ext cx="1545194" cy="154484"/>
          </a:xfrm>
          <a:prstGeom prst="roundRect">
            <a:avLst>
              <a:gd name="adj" fmla="val 7903"/>
            </a:avLst>
          </a:prstGeom>
          <a:solidFill>
            <a:srgbClr val="024A47"/>
          </a:solidFill>
          <a:ln/>
        </p:spPr>
      </p:sp>
      <p:sp>
        <p:nvSpPr>
          <p:cNvPr id="4" name="Text 1"/>
          <p:cNvSpPr/>
          <p:nvPr/>
        </p:nvSpPr>
        <p:spPr>
          <a:xfrm>
            <a:off x="5294378" y="567035"/>
            <a:ext cx="2032743" cy="9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PROBLEM · OBJECTIVES · SOLUTION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233360" y="712887"/>
            <a:ext cx="6296860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Problem, Objectives &amp; Proposed Solution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233360" y="1167805"/>
            <a:ext cx="302431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Existing Problems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88368"/>
            <a:ext cx="3024310" cy="3289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8556" y="1502767"/>
            <a:ext cx="2744719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Reusable industrial materials are often treated as waste</a:t>
            </a:r>
            <a:endParaRPr lang="en-US" sz="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772047"/>
            <a:ext cx="3024310" cy="3289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8556" y="1886446"/>
            <a:ext cx="2744719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Industries struggle to find buyers for surplus materials</a:t>
            </a:r>
            <a:endParaRPr lang="en-US" sz="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155726"/>
            <a:ext cx="3024310" cy="3289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98556" y="2270125"/>
            <a:ext cx="2744719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 trusted, centralized exchange platform exists</a:t>
            </a:r>
            <a:endParaRPr lang="en-US" sz="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2539405"/>
            <a:ext cx="3024310" cy="32891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98556" y="2653804"/>
            <a:ext cx="2744719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Material classification is difficult and time-consuming</a:t>
            </a:r>
            <a:endParaRPr lang="en-US" sz="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2923084"/>
            <a:ext cx="3024310" cy="3289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98556" y="3037483"/>
            <a:ext cx="2744719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Limited visibility into environmental impact of reuse</a:t>
            </a:r>
            <a:endParaRPr lang="en-US" sz="6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33360" y="3306763"/>
            <a:ext cx="3024310" cy="32891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98556" y="3421162"/>
            <a:ext cx="2744719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Ownership and transaction history hard to verify</a:t>
            </a:r>
            <a:endParaRPr lang="en-US" sz="600" dirty="0"/>
          </a:p>
        </p:txBody>
      </p:sp>
      <p:sp>
        <p:nvSpPr>
          <p:cNvPr id="19" name="Text 10"/>
          <p:cNvSpPr/>
          <p:nvPr/>
        </p:nvSpPr>
        <p:spPr>
          <a:xfrm>
            <a:off x="8512260" y="1167805"/>
            <a:ext cx="302431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Our Objectives</a:t>
            </a:r>
            <a:endParaRPr lang="en-US" sz="10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50359" y="1377107"/>
            <a:ext cx="152595" cy="15259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842848" y="1388368"/>
            <a:ext cx="2693722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a digital marketplace for reusable materials</a:t>
            </a:r>
            <a:endParaRPr lang="en-US" sz="6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50359" y="1780629"/>
            <a:ext cx="152595" cy="15259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842848" y="1791891"/>
            <a:ext cx="2693722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Connect suppliers and buyers across organizations</a:t>
            </a:r>
            <a:endParaRPr lang="en-US" sz="6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50359" y="2184152"/>
            <a:ext cx="152595" cy="15259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8842848" y="2195413"/>
            <a:ext cx="2693722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AI for automated material classification</a:t>
            </a:r>
            <a:endParaRPr lang="en-US" sz="6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50359" y="2587675"/>
            <a:ext cx="152595" cy="15259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842848" y="2598936"/>
            <a:ext cx="2693722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Track ownership and transactions transparently via blockchain</a:t>
            </a:r>
            <a:endParaRPr lang="en-US" sz="6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50359" y="2991197"/>
            <a:ext cx="152595" cy="15259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42848" y="3002459"/>
            <a:ext cx="2693722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Calculate carbon &amp; environmental impact of reuse</a:t>
            </a:r>
            <a:endParaRPr lang="en-US" sz="6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50359" y="3394720"/>
            <a:ext cx="152595" cy="15259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8842848" y="3405981"/>
            <a:ext cx="2693722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Encourage reuse and reduce industrial landfill waste</a:t>
            </a:r>
            <a:endParaRPr lang="en-US" sz="600" dirty="0"/>
          </a:p>
        </p:txBody>
      </p:sp>
      <p:sp>
        <p:nvSpPr>
          <p:cNvPr id="32" name="Text 17"/>
          <p:cNvSpPr/>
          <p:nvPr/>
        </p:nvSpPr>
        <p:spPr>
          <a:xfrm>
            <a:off x="5233360" y="3843734"/>
            <a:ext cx="629686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Core Modules</a:t>
            </a:r>
            <a:endParaRPr lang="en-US" sz="1000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35356" y="4084836"/>
            <a:ext cx="4092869" cy="223649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875117" y="5132764"/>
            <a:ext cx="948319" cy="12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User Management</a:t>
            </a:r>
            <a:endParaRPr lang="en-US" sz="800" dirty="0"/>
          </a:p>
        </p:txBody>
      </p:sp>
      <p:sp>
        <p:nvSpPr>
          <p:cNvPr id="35" name="Text 19"/>
          <p:cNvSpPr/>
          <p:nvPr/>
        </p:nvSpPr>
        <p:spPr>
          <a:xfrm>
            <a:off x="9269784" y="5118213"/>
            <a:ext cx="948319" cy="12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36" name="Text 20"/>
          <p:cNvSpPr/>
          <p:nvPr/>
        </p:nvSpPr>
        <p:spPr>
          <a:xfrm>
            <a:off x="8099976" y="5122872"/>
            <a:ext cx="948319" cy="12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Carbon Analytics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532606"/>
            <a:ext cx="855840" cy="134144"/>
          </a:xfrm>
          <a:prstGeom prst="roundRect">
            <a:avLst>
              <a:gd name="adj" fmla="val 7900"/>
            </a:avLst>
          </a:prstGeom>
          <a:solidFill>
            <a:srgbClr val="024A47"/>
          </a:solidFill>
          <a:ln/>
        </p:spPr>
      </p:sp>
      <p:sp>
        <p:nvSpPr>
          <p:cNvPr id="4" name="Text 1"/>
          <p:cNvSpPr/>
          <p:nvPr/>
        </p:nvSpPr>
        <p:spPr>
          <a:xfrm>
            <a:off x="714456" y="559098"/>
            <a:ext cx="1359461" cy="81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TECHNOLOGY STACK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661475" y="683220"/>
            <a:ext cx="6296860" cy="275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Tech Stack &amp; Why Each Technology Is Used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020961"/>
            <a:ext cx="6296860" cy="52982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503" y="1219597"/>
            <a:ext cx="132454" cy="1324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68559" y="1121966"/>
            <a:ext cx="578877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HTML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1068559" y="1284684"/>
            <a:ext cx="5788773" cy="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Structure of web pages — forms, listings, dashboards, navigation &amp; marketplace components</a:t>
            </a:r>
            <a:endParaRPr lang="en-US" sz="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1591965"/>
            <a:ext cx="6296860" cy="52982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503" y="1790601"/>
            <a:ext cx="132454" cy="13245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68559" y="1692970"/>
            <a:ext cx="578877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CSS</a:t>
            </a:r>
            <a:endParaRPr lang="en-US" sz="850" dirty="0"/>
          </a:p>
        </p:txBody>
      </p:sp>
      <p:sp>
        <p:nvSpPr>
          <p:cNvPr id="13" name="Text 6"/>
          <p:cNvSpPr/>
          <p:nvPr/>
        </p:nvSpPr>
        <p:spPr>
          <a:xfrm>
            <a:off x="1068559" y="1855688"/>
            <a:ext cx="5788773" cy="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Responsive layouts, typography, card UI, animations — desktop &amp; mobile compatible</a:t>
            </a:r>
            <a:endParaRPr lang="en-US" sz="5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2162969"/>
            <a:ext cx="6296860" cy="52982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4503" y="2361605"/>
            <a:ext cx="132454" cy="13245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68559" y="2263973"/>
            <a:ext cx="578877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JavaScript</a:t>
            </a:r>
            <a:endParaRPr lang="en-US" sz="850" dirty="0"/>
          </a:p>
        </p:txBody>
      </p:sp>
      <p:sp>
        <p:nvSpPr>
          <p:cNvPr id="17" name="Text 8"/>
          <p:cNvSpPr/>
          <p:nvPr/>
        </p:nvSpPr>
        <p:spPr>
          <a:xfrm>
            <a:off x="1068559" y="2426692"/>
            <a:ext cx="5788773" cy="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Frontend interactivity, search/filter, form validation, dynamic updates &amp; API communication</a:t>
            </a:r>
            <a:endParaRPr lang="en-US" sz="5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1475" y="2733973"/>
            <a:ext cx="6296860" cy="52982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4503" y="2932609"/>
            <a:ext cx="132454" cy="132457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068559" y="2834977"/>
            <a:ext cx="578877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Python</a:t>
            </a:r>
            <a:endParaRPr lang="en-US" sz="850" dirty="0"/>
          </a:p>
        </p:txBody>
      </p:sp>
      <p:sp>
        <p:nvSpPr>
          <p:cNvPr id="21" name="Text 10"/>
          <p:cNvSpPr/>
          <p:nvPr/>
        </p:nvSpPr>
        <p:spPr>
          <a:xfrm>
            <a:off x="1068559" y="2997696"/>
            <a:ext cx="5788773" cy="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AI/ML material classification, data processing, carbon-impact calculations &amp; backend API</a:t>
            </a:r>
            <a:endParaRPr lang="en-US" sz="5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1475" y="3304977"/>
            <a:ext cx="6296860" cy="529828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4503" y="3503613"/>
            <a:ext cx="132454" cy="132457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068559" y="3405981"/>
            <a:ext cx="578877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Database / Backend</a:t>
            </a:r>
            <a:endParaRPr lang="en-US" sz="850" dirty="0"/>
          </a:p>
        </p:txBody>
      </p:sp>
      <p:sp>
        <p:nvSpPr>
          <p:cNvPr id="25" name="Text 12"/>
          <p:cNvSpPr/>
          <p:nvPr/>
        </p:nvSpPr>
        <p:spPr>
          <a:xfrm>
            <a:off x="1068559" y="3568700"/>
            <a:ext cx="5788773" cy="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Firebase / MongoDB — authentication, user profiles, material listings &amp; transaction data</a:t>
            </a:r>
            <a:endParaRPr lang="en-US" sz="55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1475" y="3875980"/>
            <a:ext cx="6296860" cy="529828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84503" y="4074616"/>
            <a:ext cx="132454" cy="132457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1068559" y="3976985"/>
            <a:ext cx="578877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Blockchain</a:t>
            </a:r>
            <a:endParaRPr lang="en-US" sz="850" dirty="0"/>
          </a:p>
        </p:txBody>
      </p:sp>
      <p:sp>
        <p:nvSpPr>
          <p:cNvPr id="29" name="Text 14"/>
          <p:cNvSpPr/>
          <p:nvPr/>
        </p:nvSpPr>
        <p:spPr>
          <a:xfrm>
            <a:off x="1068559" y="4139704"/>
            <a:ext cx="5788773" cy="8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Solidity smart contracts on Ethereum-compatible testnet — ownership records &amp; transaction verification</a:t>
            </a:r>
            <a:endParaRPr lang="en-US" sz="55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63470" y="4452144"/>
            <a:ext cx="4092869" cy="1873151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4761525" y="4680500"/>
            <a:ext cx="905395" cy="11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&amp; Ledger</a:t>
            </a:r>
            <a:endParaRPr lang="en-US" sz="700" dirty="0"/>
          </a:p>
        </p:txBody>
      </p:sp>
      <p:sp>
        <p:nvSpPr>
          <p:cNvPr id="32" name="Text 16"/>
          <p:cNvSpPr/>
          <p:nvPr/>
        </p:nvSpPr>
        <p:spPr>
          <a:xfrm>
            <a:off x="4761525" y="4825870"/>
            <a:ext cx="997947" cy="19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Python AI service integrated with blockchain smart contracts</a:t>
            </a:r>
            <a:endParaRPr lang="en-US" sz="550" dirty="0"/>
          </a:p>
        </p:txBody>
      </p:sp>
      <p:sp>
        <p:nvSpPr>
          <p:cNvPr id="33" name="Text 17"/>
          <p:cNvSpPr/>
          <p:nvPr/>
        </p:nvSpPr>
        <p:spPr>
          <a:xfrm>
            <a:off x="1872308" y="5329383"/>
            <a:ext cx="905395" cy="11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Backend &amp; DB</a:t>
            </a:r>
            <a:endParaRPr lang="en-US" sz="700" dirty="0"/>
          </a:p>
        </p:txBody>
      </p:sp>
      <p:sp>
        <p:nvSpPr>
          <p:cNvPr id="34" name="Text 18"/>
          <p:cNvSpPr/>
          <p:nvPr/>
        </p:nvSpPr>
        <p:spPr>
          <a:xfrm>
            <a:off x="1860236" y="5474753"/>
            <a:ext cx="917467" cy="13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6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API, business logic, and persistent storage</a:t>
            </a:r>
            <a:endParaRPr lang="en-US" sz="550" dirty="0"/>
          </a:p>
        </p:txBody>
      </p:sp>
      <p:sp>
        <p:nvSpPr>
          <p:cNvPr id="35" name="Text 19"/>
          <p:cNvSpPr/>
          <p:nvPr/>
        </p:nvSpPr>
        <p:spPr>
          <a:xfrm>
            <a:off x="4761525" y="5647286"/>
            <a:ext cx="905395" cy="11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Core Web App</a:t>
            </a:r>
            <a:endParaRPr lang="en-US" sz="700" dirty="0"/>
          </a:p>
        </p:txBody>
      </p:sp>
      <p:sp>
        <p:nvSpPr>
          <p:cNvPr id="36" name="Text 20"/>
          <p:cNvSpPr/>
          <p:nvPr/>
        </p:nvSpPr>
        <p:spPr>
          <a:xfrm>
            <a:off x="4761525" y="5792655"/>
            <a:ext cx="997947" cy="13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HTML, CSS, JavaScript for UI and interactivity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622"/>
            <a:ext cx="997818" cy="160338"/>
          </a:xfrm>
          <a:prstGeom prst="roundRect">
            <a:avLst>
              <a:gd name="adj" fmla="val 7902"/>
            </a:avLst>
          </a:prstGeom>
          <a:solidFill>
            <a:srgbClr val="024A47"/>
          </a:solidFill>
          <a:ln/>
        </p:spPr>
      </p:sp>
      <p:sp>
        <p:nvSpPr>
          <p:cNvPr id="3" name="Text 1"/>
          <p:cNvSpPr/>
          <p:nvPr/>
        </p:nvSpPr>
        <p:spPr>
          <a:xfrm>
            <a:off x="724775" y="562273"/>
            <a:ext cx="148080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SYSTEM WORKFLOW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14474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How the System Works</a:t>
            </a:r>
            <a:endParaRPr lang="en-US" sz="2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472" y="1132780"/>
            <a:ext cx="3930750" cy="3930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12269" y="1834039"/>
            <a:ext cx="126653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Register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12269" y="2089251"/>
            <a:ext cx="1266534" cy="371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account and verify organization profile.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19686" y="1834039"/>
            <a:ext cx="126653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List Material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19686" y="2089251"/>
            <a:ext cx="1266534" cy="371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Upload item details: name, qty, condition, images.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12379" y="3741394"/>
            <a:ext cx="126653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Classifies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12379" y="3996606"/>
            <a:ext cx="1266534" cy="371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Automatically categorize material by type and quality.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19686" y="3741394"/>
            <a:ext cx="126653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Marketplace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19686" y="3996606"/>
            <a:ext cx="1266534" cy="371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Make listings discoverable to buyers and partners.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1475" y="5129808"/>
            <a:ext cx="2672985" cy="621903"/>
          </a:xfrm>
          <a:prstGeom prst="roundRect">
            <a:avLst>
              <a:gd name="adj" fmla="val 2547"/>
            </a:avLst>
          </a:prstGeom>
          <a:solidFill>
            <a:srgbClr val="036661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67041" y="5235377"/>
            <a:ext cx="246185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① Registration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7041" y="5435600"/>
            <a:ext cx="2461853" cy="10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Organization creates account &amp; verifies profile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3393395" y="5129808"/>
            <a:ext cx="2672985" cy="621903"/>
          </a:xfrm>
          <a:prstGeom prst="roundRect">
            <a:avLst>
              <a:gd name="adj" fmla="val 2547"/>
            </a:avLst>
          </a:prstGeom>
          <a:solidFill>
            <a:srgbClr val="333333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498961" y="5235377"/>
            <a:ext cx="246185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② Material Listing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98961" y="5435600"/>
            <a:ext cx="2461853" cy="210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Supplier uploads name, quantity, condition, location, images &amp; price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125315" y="5129808"/>
            <a:ext cx="2672985" cy="621903"/>
          </a:xfrm>
          <a:prstGeom prst="roundRect">
            <a:avLst>
              <a:gd name="adj" fmla="val 2547"/>
            </a:avLst>
          </a:prstGeom>
          <a:solidFill>
            <a:srgbClr val="114945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230881" y="5235377"/>
            <a:ext cx="246185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③ AI Classification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30881" y="5435600"/>
            <a:ext cx="2461853" cy="210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Python AI categorizes material: Metal, Plastic, Glass, Electronics, Industrial Surplus…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8857235" y="5129808"/>
            <a:ext cx="2672985" cy="621903"/>
          </a:xfrm>
          <a:prstGeom prst="roundRect">
            <a:avLst>
              <a:gd name="adj" fmla="val 2547"/>
            </a:avLst>
          </a:prstGeom>
          <a:solidFill>
            <a:srgbClr val="036661">
              <a:alpha val="5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962801" y="5235377"/>
            <a:ext cx="246185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④ Marketplace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962801" y="5435600"/>
            <a:ext cx="2461853" cy="210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Buyers search, filter by category/location/quantity, view details &amp; contact supplier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61475" y="5810647"/>
            <a:ext cx="3583592" cy="516632"/>
          </a:xfrm>
          <a:prstGeom prst="roundRect">
            <a:avLst>
              <a:gd name="adj" fmla="val 3066"/>
            </a:avLst>
          </a:prstGeom>
          <a:solidFill>
            <a:srgbClr val="333333">
              <a:alpha val="5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67041" y="5916216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⑤ Transaction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67041" y="6116439"/>
            <a:ext cx="3372460" cy="10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Both parties agree; transaction is recorded on the platform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304002" y="5810647"/>
            <a:ext cx="3583592" cy="516632"/>
          </a:xfrm>
          <a:prstGeom prst="roundRect">
            <a:avLst>
              <a:gd name="adj" fmla="val 3066"/>
            </a:avLst>
          </a:prstGeom>
          <a:solidFill>
            <a:srgbClr val="114945">
              <a:alpha val="5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4409568" y="5916216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⑥ Blockchain Record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409568" y="6116439"/>
            <a:ext cx="3372460" cy="10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Smart contract stores verifiable ownership &amp; transaction history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7946529" y="5810647"/>
            <a:ext cx="3583692" cy="516632"/>
          </a:xfrm>
          <a:prstGeom prst="roundRect">
            <a:avLst>
              <a:gd name="adj" fmla="val 3066"/>
            </a:avLst>
          </a:prstGeom>
          <a:solidFill>
            <a:srgbClr val="036661">
              <a:alpha val="5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052095" y="5916216"/>
            <a:ext cx="3372559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⑦ Carbon Impact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52095" y="6116439"/>
            <a:ext cx="3372559" cy="10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System estimates environmental benefit vs. producing or discarding new material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375" y="0"/>
            <a:ext cx="320032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579934"/>
            <a:ext cx="1141979" cy="177899"/>
          </a:xfrm>
          <a:prstGeom prst="roundRect">
            <a:avLst>
              <a:gd name="adj" fmla="val 7899"/>
            </a:avLst>
          </a:prstGeom>
          <a:solidFill>
            <a:srgbClr val="024A47"/>
          </a:solidFill>
          <a:ln/>
        </p:spPr>
      </p:sp>
      <p:sp>
        <p:nvSpPr>
          <p:cNvPr id="4" name="Text 1"/>
          <p:cNvSpPr/>
          <p:nvPr/>
        </p:nvSpPr>
        <p:spPr>
          <a:xfrm>
            <a:off x="731720" y="615057"/>
            <a:ext cx="1611074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PLATFORM MODULES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86805"/>
            <a:ext cx="7820822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Key Features &amp; User Interface</a:t>
            </a:r>
            <a:endParaRPr lang="en-US" sz="2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43025"/>
            <a:ext cx="3767639" cy="75763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519" y="1633934"/>
            <a:ext cx="175613" cy="1756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5102" y="1472803"/>
            <a:ext cx="3084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Supplier Dashboard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1215102" y="1728192"/>
            <a:ext cx="3084237" cy="24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Add &amp; manage listings · View buyer requests · Track transactions · Monitor environmental impact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2173188"/>
            <a:ext cx="3767639" cy="75763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0519" y="2464098"/>
            <a:ext cx="175613" cy="17561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15102" y="2302966"/>
            <a:ext cx="3084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Buyer Dashboard</a:t>
            </a:r>
            <a:endParaRPr lang="en-US" sz="1150" dirty="0"/>
          </a:p>
        </p:txBody>
      </p:sp>
      <p:sp>
        <p:nvSpPr>
          <p:cNvPr id="13" name="Text 6"/>
          <p:cNvSpPr/>
          <p:nvPr/>
        </p:nvSpPr>
        <p:spPr>
          <a:xfrm>
            <a:off x="1215102" y="2558355"/>
            <a:ext cx="3084237" cy="24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Search &amp; filter materials · View details · Request material · Track purchases</a:t>
            </a:r>
            <a:endParaRPr lang="en-US" sz="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3003352"/>
            <a:ext cx="3767639" cy="757634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519" y="3294261"/>
            <a:ext cx="175613" cy="17561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215102" y="3133130"/>
            <a:ext cx="3084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Module</a:t>
            </a:r>
            <a:endParaRPr lang="en-US" sz="1150" dirty="0"/>
          </a:p>
        </p:txBody>
      </p:sp>
      <p:sp>
        <p:nvSpPr>
          <p:cNvPr id="17" name="Text 8"/>
          <p:cNvSpPr/>
          <p:nvPr/>
        </p:nvSpPr>
        <p:spPr>
          <a:xfrm>
            <a:off x="1215102" y="3388519"/>
            <a:ext cx="3084237" cy="24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Image &amp; text-based classification · Auto-categorization · Material recommendations</a:t>
            </a:r>
            <a:endParaRPr lang="en-US" sz="7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1475" y="3833515"/>
            <a:ext cx="3767639" cy="70256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0519" y="4096941"/>
            <a:ext cx="175613" cy="175617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215102" y="3963293"/>
            <a:ext cx="3084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Marketplace</a:t>
            </a:r>
            <a:endParaRPr lang="en-US" sz="1150" dirty="0"/>
          </a:p>
        </p:txBody>
      </p:sp>
      <p:sp>
        <p:nvSpPr>
          <p:cNvPr id="21" name="Text 10"/>
          <p:cNvSpPr/>
          <p:nvPr/>
        </p:nvSpPr>
        <p:spPr>
          <a:xfrm>
            <a:off x="1215102" y="4218682"/>
            <a:ext cx="3084237" cy="12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Material cards · Search · Category, location &amp; quantity filters · Price info</a:t>
            </a:r>
            <a:endParaRPr lang="en-US" sz="7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1475" y="4608612"/>
            <a:ext cx="3767639" cy="757634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0519" y="4899521"/>
            <a:ext cx="175613" cy="175617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215102" y="4738390"/>
            <a:ext cx="3084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Sustainability Dashboard</a:t>
            </a:r>
            <a:endParaRPr lang="en-US" sz="1150" dirty="0"/>
          </a:p>
        </p:txBody>
      </p:sp>
      <p:sp>
        <p:nvSpPr>
          <p:cNvPr id="25" name="Text 12"/>
          <p:cNvSpPr/>
          <p:nvPr/>
        </p:nvSpPr>
        <p:spPr>
          <a:xfrm>
            <a:off x="1215102" y="4993779"/>
            <a:ext cx="3084237" cy="24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Materials reused · Waste diverted · Carbon reduction estimate · Transactions completed</a:t>
            </a:r>
            <a:endParaRPr lang="en-US" sz="7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1475" y="5438775"/>
            <a:ext cx="3767639" cy="757634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0519" y="5729684"/>
            <a:ext cx="175613" cy="175617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1215102" y="5568553"/>
            <a:ext cx="3084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29" name="Text 14"/>
          <p:cNvSpPr/>
          <p:nvPr/>
        </p:nvSpPr>
        <p:spPr>
          <a:xfrm>
            <a:off x="1215102" y="5823942"/>
            <a:ext cx="3084237" cy="24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Manage users · Verify organizations · Monitor listings &amp; transactions · Analytics</a:t>
            </a:r>
            <a:endParaRPr lang="en-US" sz="70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08308" y="1330325"/>
            <a:ext cx="3780338" cy="402134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4863482" y="1343025"/>
            <a:ext cx="362516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Mock UI Screens</a:t>
            </a:r>
            <a:endParaRPr lang="en-US" sz="1150" dirty="0"/>
          </a:p>
        </p:txBody>
      </p:sp>
      <p:sp>
        <p:nvSpPr>
          <p:cNvPr id="32" name="Text 16"/>
          <p:cNvSpPr/>
          <p:nvPr/>
        </p:nvSpPr>
        <p:spPr>
          <a:xfrm>
            <a:off x="4863482" y="1598414"/>
            <a:ext cx="3625164" cy="12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Marketplace · Material Listing Form · Sustainability Dashboard</a:t>
            </a:r>
            <a:endParaRPr lang="en-US" sz="700" dirty="0"/>
          </a:p>
        </p:txBody>
      </p:sp>
      <p:pic>
        <p:nvPicPr>
          <p:cNvPr id="31" name="Mock UI Screens Illustration" descr="Illustration of marketplace, listing form, and sustainability dashboard mock UI screens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08308" y="1780000"/>
            <a:ext cx="4100000" cy="478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614065"/>
            <a:ext cx="1360751" cy="180777"/>
          </a:xfrm>
          <a:prstGeom prst="roundRect">
            <a:avLst>
              <a:gd name="adj" fmla="val 7901"/>
            </a:avLst>
          </a:prstGeom>
          <a:solidFill>
            <a:srgbClr val="024A47"/>
          </a:solidFill>
          <a:ln/>
        </p:spPr>
      </p:sp>
      <p:sp>
        <p:nvSpPr>
          <p:cNvPr id="4" name="Text 1"/>
          <p:cNvSpPr/>
          <p:nvPr/>
        </p:nvSpPr>
        <p:spPr>
          <a:xfrm>
            <a:off x="5304697" y="649684"/>
            <a:ext cx="1827663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IMPACT &amp; FUTURE SCOPE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233360" y="824805"/>
            <a:ext cx="6296860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Impact, Advantages &amp; Future Scope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233360" y="1384002"/>
            <a:ext cx="30032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Expected Impact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654274"/>
            <a:ext cx="3003276" cy="7788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5819" y="1785938"/>
            <a:ext cx="268915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 Environmental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15819" y="2053233"/>
            <a:ext cx="268915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Reduce industrial waste · Increase material reuse · Lower landfill dependency · Support circular economy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08052"/>
            <a:ext cx="3003276" cy="7788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15819" y="2639715"/>
            <a:ext cx="268915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 Economic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415819" y="2907010"/>
            <a:ext cx="268915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Organizations recover value from surplus · Buyers access materials at lower cost · New digital exchange ecosystem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361829"/>
            <a:ext cx="3003276" cy="7788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15819" y="3493492"/>
            <a:ext cx="268915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 Technological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5415819" y="3760788"/>
            <a:ext cx="268915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AI-assisted classification · Transparent digital ownership records · Data-driven sustainability analytics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8533294" y="1384002"/>
            <a:ext cx="30032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8577891" y="1676549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36661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875987" y="1695152"/>
            <a:ext cx="26605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IoT Integration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875987" y="1956098"/>
            <a:ext cx="266058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Automatic inventory tracking for industrial materials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8577891" y="2252315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875987" y="2270919"/>
            <a:ext cx="26605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Advanced Computer Vision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875987" y="2531864"/>
            <a:ext cx="266058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AI-based material identification from images</a:t>
            </a:r>
            <a:endParaRPr lang="en-US" sz="700" dirty="0"/>
          </a:p>
        </p:txBody>
      </p:sp>
      <p:sp>
        <p:nvSpPr>
          <p:cNvPr id="23" name="Text 17"/>
          <p:cNvSpPr/>
          <p:nvPr/>
        </p:nvSpPr>
        <p:spPr>
          <a:xfrm>
            <a:off x="8577891" y="2828082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494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875987" y="2846685"/>
            <a:ext cx="26605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Price Prediction &amp; Recommendation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875987" y="3107630"/>
            <a:ext cx="266058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Connect buyers with relevant materials automatically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8577891" y="3403848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36661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875987" y="3422452"/>
            <a:ext cx="26605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GPS-Based Matching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875987" y="3683397"/>
            <a:ext cx="266058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Location-aware supplier-buyer pairing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8577891" y="3979614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875987" y="3998218"/>
            <a:ext cx="26605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Mobile App &amp; National Network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875987" y="4259163"/>
            <a:ext cx="266058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Expand into a national industrial circular-economy platform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5233360" y="4581426"/>
            <a:ext cx="6296860" cy="12700"/>
          </a:xfrm>
          <a:prstGeom prst="roundRect">
            <a:avLst>
              <a:gd name="adj" fmla="val 49999"/>
            </a:avLst>
          </a:prstGeom>
          <a:solidFill>
            <a:srgbClr val="DEDEDE">
              <a:alpha val="50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5356" y="4708029"/>
            <a:ext cx="4092869" cy="153580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642303" y="5871004"/>
            <a:ext cx="617301" cy="118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Impact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8864334" y="5871004"/>
            <a:ext cx="617301" cy="118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Reuse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8090594" y="5871004"/>
            <a:ext cx="617301" cy="118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Digital Market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7316853" y="5871004"/>
            <a:ext cx="617301" cy="118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Classify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6526200" y="5871004"/>
            <a:ext cx="617301" cy="118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Surplus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86064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75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621891" y="2307729"/>
            <a:ext cx="947912" cy="215305"/>
          </a:xfrm>
          <a:prstGeom prst="roundRect">
            <a:avLst>
              <a:gd name="adj" fmla="val 7901"/>
            </a:avLst>
          </a:prstGeom>
          <a:solidFill>
            <a:srgbClr val="024A47"/>
          </a:solidFill>
          <a:ln/>
        </p:spPr>
      </p:sp>
      <p:sp>
        <p:nvSpPr>
          <p:cNvPr id="4" name="Text 1"/>
          <p:cNvSpPr/>
          <p:nvPr/>
        </p:nvSpPr>
        <p:spPr>
          <a:xfrm>
            <a:off x="5706920" y="2350195"/>
            <a:ext cx="138744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EDEDE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2565499"/>
            <a:ext cx="10868745" cy="61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569303" y="3455789"/>
            <a:ext cx="11265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DEDEDE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"From Industrial Waste to Digital Resource."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3336230"/>
            <a:ext cx="19050" cy="437555"/>
          </a:xfrm>
          <a:prstGeom prst="roundRect">
            <a:avLst>
              <a:gd name="adj" fmla="val 49999"/>
            </a:avLst>
          </a:prstGeom>
          <a:solidFill>
            <a:srgbClr val="036661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3893344"/>
            <a:ext cx="3552042" cy="886023"/>
          </a:xfrm>
          <a:prstGeom prst="roundRect">
            <a:avLst>
              <a:gd name="adj" fmla="val 2400"/>
            </a:avLst>
          </a:prstGeom>
          <a:solidFill>
            <a:srgbClr val="03666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03156" y="4035028"/>
            <a:ext cx="32686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3156" y="4320183"/>
            <a:ext cx="32686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Reusable industrial materials end up as waste due to lack of a trusted digital exchange ecosystem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19777" y="3893344"/>
            <a:ext cx="3552042" cy="886023"/>
          </a:xfrm>
          <a:prstGeom prst="roundRect">
            <a:avLst>
              <a:gd name="adj" fmla="val 2400"/>
            </a:avLst>
          </a:prstGeom>
          <a:solidFill>
            <a:srgbClr val="333333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461458" y="4035028"/>
            <a:ext cx="32686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61458" y="4320183"/>
            <a:ext cx="32686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centralized AI-powered marketplace connecting suppliers &amp; buyers of reusable industrial materials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78079" y="3893344"/>
            <a:ext cx="3552042" cy="886023"/>
          </a:xfrm>
          <a:prstGeom prst="roundRect">
            <a:avLst>
              <a:gd name="adj" fmla="val 2400"/>
            </a:avLst>
          </a:prstGeom>
          <a:solidFill>
            <a:srgbClr val="114945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119760" y="4035028"/>
            <a:ext cx="32686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Impact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119760" y="4320183"/>
            <a:ext cx="32686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Reduced landfill waste · Economic value recovery · Transparent blockchain records · Carbon analytics</a:t>
            </a:r>
            <a:endParaRPr lang="en-US" sz="8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16686"/>
            <a:ext cx="141681" cy="1416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1475" y="5120779"/>
            <a:ext cx="3552042" cy="19050"/>
          </a:xfrm>
          <a:prstGeom prst="rect">
            <a:avLst/>
          </a:prstGeom>
          <a:solidFill>
            <a:srgbClr val="036661"/>
          </a:solidFill>
          <a:ln/>
        </p:spPr>
      </p:sp>
      <p:sp>
        <p:nvSpPr>
          <p:cNvPr id="19" name="Text 15"/>
          <p:cNvSpPr/>
          <p:nvPr/>
        </p:nvSpPr>
        <p:spPr>
          <a:xfrm>
            <a:off x="661475" y="5229721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Anshuman Verma</a:t>
            </a:r>
            <a:endParaRPr lang="en-US" sz="13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9777" y="4916686"/>
            <a:ext cx="141681" cy="14168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319777" y="5120779"/>
            <a:ext cx="3552042" cy="19050"/>
          </a:xfrm>
          <a:prstGeom prst="rect">
            <a:avLst/>
          </a:prstGeom>
          <a:solidFill>
            <a:srgbClr val="036661"/>
          </a:solidFill>
          <a:ln/>
        </p:spPr>
      </p:sp>
      <p:sp>
        <p:nvSpPr>
          <p:cNvPr id="22" name="Text 17"/>
          <p:cNvSpPr/>
          <p:nvPr/>
        </p:nvSpPr>
        <p:spPr>
          <a:xfrm>
            <a:off x="4319777" y="5229721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Aman Kumar</a:t>
            </a:r>
            <a:endParaRPr lang="en-US" sz="13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8079" y="4916686"/>
            <a:ext cx="141681" cy="1416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978079" y="5120779"/>
            <a:ext cx="3552042" cy="19050"/>
          </a:xfrm>
          <a:prstGeom prst="rect">
            <a:avLst/>
          </a:prstGeom>
          <a:solidFill>
            <a:srgbClr val="036661"/>
          </a:solidFill>
          <a:ln/>
        </p:spPr>
      </p:sp>
      <p:sp>
        <p:nvSpPr>
          <p:cNvPr id="25" name="Text 19"/>
          <p:cNvSpPr/>
          <p:nvPr/>
        </p:nvSpPr>
        <p:spPr>
          <a:xfrm>
            <a:off x="7978079" y="5229721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Anish Prakash</a:t>
            </a:r>
            <a:endParaRPr lang="en-US" sz="13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681464"/>
            <a:ext cx="141681" cy="14168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61475" y="5885557"/>
            <a:ext cx="10868646" cy="19050"/>
          </a:xfrm>
          <a:prstGeom prst="rect">
            <a:avLst/>
          </a:prstGeom>
          <a:solidFill>
            <a:srgbClr val="036661"/>
          </a:solidFill>
          <a:ln/>
        </p:spPr>
      </p:sp>
      <p:sp>
        <p:nvSpPr>
          <p:cNvPr id="28" name="Text 21"/>
          <p:cNvSpPr/>
          <p:nvPr/>
        </p:nvSpPr>
        <p:spPr>
          <a:xfrm>
            <a:off x="661475" y="5994499"/>
            <a:ext cx="108686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EDEDE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Aditya Verma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2026-08-13T17:29:28Z</dcterms:created>
  <dcterms:modified xsi:type="dcterms:W3CDTF">2026-08-13T17:29:28Z</dcterms:modified>
</cp:coreProperties>
</file>